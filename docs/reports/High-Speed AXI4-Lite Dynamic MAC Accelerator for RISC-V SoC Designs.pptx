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71" r:id="rId14"/>
    <p:sldId id="269" r:id="rId15"/>
    <p:sldId id="270" r:id="rId16"/>
    <p:sldId id="272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1" roundtripDataSignature="AMtx7miUHVc/IJV7Q7xnu4FDs9jG6+wf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72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-254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07D79993-D4E7-6015-2765-AF44BF9FC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>
            <a:extLst>
              <a:ext uri="{FF2B5EF4-FFF2-40B4-BE49-F238E27FC236}">
                <a16:creationId xmlns="" xmlns:a16="http://schemas.microsoft.com/office/drawing/2014/main" id="{0CDCE07E-8571-BD22-058C-822ED7724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14:notes">
            <a:extLst>
              <a:ext uri="{FF2B5EF4-FFF2-40B4-BE49-F238E27FC236}">
                <a16:creationId xmlns="" xmlns:a16="http://schemas.microsoft.com/office/drawing/2014/main" id="{F2D9369A-1AD0-C2E6-C1A4-1AE966665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3339616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le_Title Slide">
  <p:cSld name="Purple_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9"/>
          <p:cNvPicPr preferRelativeResize="0"/>
          <p:nvPr/>
        </p:nvPicPr>
        <p:blipFill rotWithShape="1">
          <a:blip r:embed="rId2">
            <a:alphaModFix/>
          </a:blip>
          <a:srcRect l="9548" t="32715" b="22252"/>
          <a:stretch/>
        </p:blipFill>
        <p:spPr>
          <a:xfrm>
            <a:off x="0" y="825500"/>
            <a:ext cx="9144000" cy="43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7140" y="200112"/>
            <a:ext cx="931635" cy="52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9"/>
          <p:cNvSpPr txBox="1">
            <a:spLocks noGrp="1"/>
          </p:cNvSpPr>
          <p:nvPr>
            <p:ph type="subTitle" idx="1"/>
          </p:nvPr>
        </p:nvSpPr>
        <p:spPr>
          <a:xfrm>
            <a:off x="629142" y="1543050"/>
            <a:ext cx="8148008" cy="95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66A1"/>
              </a:buClr>
              <a:buSzPts val="2100"/>
              <a:buFont typeface="Merriweather Sans"/>
              <a:buNone/>
              <a:defRPr sz="21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500"/>
              <a:buFont typeface="Merriweather Sans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200"/>
              <a:buFont typeface="Courier New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9"/>
          <p:cNvSpPr/>
          <p:nvPr/>
        </p:nvSpPr>
        <p:spPr>
          <a:xfrm>
            <a:off x="-2" y="0"/>
            <a:ext cx="9143999" cy="82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9"/>
          <p:cNvSpPr txBox="1">
            <a:spLocks noGrp="1"/>
          </p:cNvSpPr>
          <p:nvPr>
            <p:ph type="body" idx="2"/>
          </p:nvPr>
        </p:nvSpPr>
        <p:spPr>
          <a:xfrm>
            <a:off x="531373" y="4099184"/>
            <a:ext cx="8187460" cy="29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66A1"/>
              </a:buClr>
              <a:buSzPts val="1800"/>
              <a:buFont typeface="Merriweather Sans"/>
              <a:buNone/>
              <a:defRPr sz="18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350"/>
              <a:buFont typeface="Merriweather Sans"/>
              <a:buChar char="-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35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350"/>
              <a:buFont typeface="Courier New"/>
              <a:buChar char="o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9"/>
          <p:cNvSpPr/>
          <p:nvPr/>
        </p:nvSpPr>
        <p:spPr>
          <a:xfrm rot="5400000">
            <a:off x="-2" y="0"/>
            <a:ext cx="1174831" cy="1174831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9"/>
          <p:cNvSpPr/>
          <p:nvPr/>
        </p:nvSpPr>
        <p:spPr>
          <a:xfrm flipH="1">
            <a:off x="-1" y="4641891"/>
            <a:ext cx="9143998" cy="501610"/>
          </a:xfrm>
          <a:prstGeom prst="snip1Rect">
            <a:avLst>
              <a:gd name="adj" fmla="val 50000"/>
            </a:avLst>
          </a:prstGeom>
          <a:solidFill>
            <a:schemeClr val="lt1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5" name="Google Shape;25;p19" descr="ICNEXTS'25 Conferenc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1978"/>
            <a:ext cx="4307541" cy="735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9" descr="Sponsor 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05794" y="1673"/>
            <a:ext cx="679095" cy="493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9" descr="Sponsor 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75905" y="7931"/>
            <a:ext cx="646193" cy="469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9632" y="77690"/>
            <a:ext cx="822577" cy="34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50244" y="372910"/>
            <a:ext cx="1297514" cy="456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le_Divider Slide">
  <p:cSld name="Purple_Divider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/>
          <p:nvPr/>
        </p:nvSpPr>
        <p:spPr>
          <a:xfrm>
            <a:off x="-2" y="0"/>
            <a:ext cx="9144002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B2D5D7">
                  <a:alpha val="13333"/>
                </a:srgbClr>
              </a:gs>
              <a:gs pos="8000">
                <a:srgbClr val="B2D5D7">
                  <a:alpha val="13333"/>
                </a:srgbClr>
              </a:gs>
              <a:gs pos="55000">
                <a:srgbClr val="004578">
                  <a:alpha val="8627"/>
                </a:srgbClr>
              </a:gs>
              <a:gs pos="96000">
                <a:srgbClr val="658D1B">
                  <a:alpha val="15686"/>
                </a:srgbClr>
              </a:gs>
              <a:gs pos="100000">
                <a:srgbClr val="658D1B">
                  <a:alpha val="15686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0"/>
          <p:cNvSpPr txBox="1">
            <a:spLocks noGrp="1"/>
          </p:cNvSpPr>
          <p:nvPr>
            <p:ph type="ctrTitle"/>
          </p:nvPr>
        </p:nvSpPr>
        <p:spPr>
          <a:xfrm>
            <a:off x="629418" y="658135"/>
            <a:ext cx="7850623" cy="707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20"/>
          <p:cNvSpPr/>
          <p:nvPr/>
        </p:nvSpPr>
        <p:spPr>
          <a:xfrm>
            <a:off x="-2" y="1"/>
            <a:ext cx="9144001" cy="114299"/>
          </a:xfrm>
          <a:prstGeom prst="rect">
            <a:avLst/>
          </a:prstGeom>
          <a:solidFill>
            <a:srgbClr val="8433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0"/>
          <p:cNvSpPr/>
          <p:nvPr/>
        </p:nvSpPr>
        <p:spPr>
          <a:xfrm rot="5400000">
            <a:off x="0" y="0"/>
            <a:ext cx="212271" cy="212271"/>
          </a:xfrm>
          <a:prstGeom prst="rtTriangle">
            <a:avLst/>
          </a:prstGeom>
          <a:solidFill>
            <a:srgbClr val="8433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0"/>
          <p:cNvSpPr txBox="1">
            <a:spLocks noGrp="1"/>
          </p:cNvSpPr>
          <p:nvPr>
            <p:ph type="subTitle" idx="1"/>
          </p:nvPr>
        </p:nvSpPr>
        <p:spPr>
          <a:xfrm>
            <a:off x="629418" y="1435145"/>
            <a:ext cx="7850622" cy="419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66A1"/>
              </a:buClr>
              <a:buSzPts val="2100"/>
              <a:buFont typeface="Merriweather Sans"/>
              <a:buNone/>
              <a:defRPr sz="2100" b="1" i="1" u="none" strike="noStrike" cap="none">
                <a:solidFill>
                  <a:srgbClr val="8433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500"/>
              <a:buFont typeface="Merriweather Sans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6A1"/>
              </a:buClr>
              <a:buSzPts val="1200"/>
              <a:buFont typeface="Courier New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/>
          <p:nvPr/>
        </p:nvSpPr>
        <p:spPr>
          <a:xfrm flipH="1">
            <a:off x="-1" y="4641890"/>
            <a:ext cx="9143998" cy="501610"/>
          </a:xfrm>
          <a:prstGeom prst="snip1Rect">
            <a:avLst>
              <a:gd name="adj" fmla="val 50000"/>
            </a:avLst>
          </a:prstGeom>
          <a:solidFill>
            <a:schemeClr val="lt1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0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20" descr="ICNEXTS'25 Conference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976" y="149891"/>
            <a:ext cx="863495" cy="516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0" descr="ICNEXTS'25 Conference Bann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3076" y="4799178"/>
            <a:ext cx="5383306" cy="33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B2D5D7">
                  <a:alpha val="13333"/>
                </a:srgbClr>
              </a:gs>
              <a:gs pos="8000">
                <a:srgbClr val="B2D5D7">
                  <a:alpha val="13333"/>
                </a:srgbClr>
              </a:gs>
              <a:gs pos="55000">
                <a:srgbClr val="004578">
                  <a:alpha val="8627"/>
                </a:srgbClr>
              </a:gs>
              <a:gs pos="96000">
                <a:srgbClr val="658D1B">
                  <a:alpha val="15686"/>
                </a:srgbClr>
              </a:gs>
              <a:gs pos="100000">
                <a:srgbClr val="658D1B">
                  <a:alpha val="15686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8"/>
          <p:cNvSpPr/>
          <p:nvPr/>
        </p:nvSpPr>
        <p:spPr>
          <a:xfrm>
            <a:off x="-2" y="1"/>
            <a:ext cx="9144001" cy="114299"/>
          </a:xfrm>
          <a:prstGeom prst="rect">
            <a:avLst/>
          </a:prstGeom>
          <a:solidFill>
            <a:srgbClr val="8433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8"/>
          <p:cNvSpPr/>
          <p:nvPr/>
        </p:nvSpPr>
        <p:spPr>
          <a:xfrm rot="5400000">
            <a:off x="0" y="0"/>
            <a:ext cx="212271" cy="212271"/>
          </a:xfrm>
          <a:prstGeom prst="rtTriangle">
            <a:avLst/>
          </a:prstGeom>
          <a:solidFill>
            <a:srgbClr val="8433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8"/>
          <p:cNvSpPr/>
          <p:nvPr/>
        </p:nvSpPr>
        <p:spPr>
          <a:xfrm flipH="1">
            <a:off x="-1" y="4641891"/>
            <a:ext cx="9143998" cy="501610"/>
          </a:xfrm>
          <a:prstGeom prst="snip1Rect">
            <a:avLst>
              <a:gd name="adj" fmla="val 50000"/>
            </a:avLst>
          </a:prstGeom>
          <a:solidFill>
            <a:schemeClr val="lt1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00457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15" name="Google Shape;1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6483" y="212271"/>
            <a:ext cx="1297514" cy="45681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>
            <a:spLocks noGrp="1"/>
          </p:cNvSpPr>
          <p:nvPr>
            <p:ph type="subTitle" idx="1"/>
          </p:nvPr>
        </p:nvSpPr>
        <p:spPr>
          <a:xfrm>
            <a:off x="142483" y="1543050"/>
            <a:ext cx="8890005" cy="95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spcBef>
                <a:spcPts val="0"/>
              </a:spcBef>
              <a:buSzPts val="2200"/>
            </a:pPr>
            <a:r>
              <a:rPr lang="en-US" sz="2200" i="0" dirty="0">
                <a:solidFill>
                  <a:schemeClr val="dk1"/>
                </a:solidFill>
              </a:rPr>
              <a:t>High-Speed AXI4-Lite Dynamic MAC Accelerator for RISC-V SoC Designs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body" idx="2"/>
          </p:nvPr>
        </p:nvSpPr>
        <p:spPr>
          <a:xfrm>
            <a:off x="6752" y="2964329"/>
            <a:ext cx="9025736" cy="192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1" i="1" dirty="0">
                <a:solidFill>
                  <a:schemeClr val="dk1"/>
                </a:solidFill>
              </a:rPr>
              <a:t>THIRUNAAVUKARASAN S</a:t>
            </a:r>
            <a:endParaRPr sz="1200" b="1" i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</a:rPr>
              <a:t>Department of ECE</a:t>
            </a:r>
            <a:endParaRPr sz="1200" b="1" i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</a:rPr>
              <a:t>St. Joseph’s Institute of Technology</a:t>
            </a:r>
            <a:r>
              <a:rPr lang="en-US" sz="1200" b="1" i="1" dirty="0">
                <a:solidFill>
                  <a:schemeClr val="dk1"/>
                </a:solidFill>
              </a:rPr>
              <a:t> </a:t>
            </a:r>
            <a:endParaRPr sz="1200" b="1" i="1" dirty="0">
              <a:solidFill>
                <a:schemeClr val="dk1"/>
              </a:solidFill>
            </a:endParaRPr>
          </a:p>
        </p:txBody>
      </p:sp>
      <p:sp>
        <p:nvSpPr>
          <p:cNvPr id="47" name="Google Shape;47;p1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2685301" y="2964328"/>
            <a:ext cx="253393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SRIRAM 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St. Joseph’s Institute of Technology</a:t>
            </a:r>
            <a:endParaRPr sz="1200" b="1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641075" y="2988618"/>
            <a:ext cx="2533932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 ROHINI G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Professor(Department of ECE)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St. Joseph’s Institute of Technology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1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>
            <a:spLocks noGrp="1"/>
          </p:cNvSpPr>
          <p:nvPr>
            <p:ph type="ctrTitle"/>
          </p:nvPr>
        </p:nvSpPr>
        <p:spPr>
          <a:xfrm>
            <a:off x="629141" y="262231"/>
            <a:ext cx="7850623" cy="707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300"/>
              <a:buFont typeface="Calibri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subTitle" idx="1"/>
          </p:nvPr>
        </p:nvSpPr>
        <p:spPr>
          <a:xfrm>
            <a:off x="629142" y="1100608"/>
            <a:ext cx="7850622" cy="3864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-8032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300" i="0"/>
              <a:t> </a:t>
            </a:r>
            <a:r>
              <a:rPr lang="en-US" sz="2900" i="0"/>
              <a:t>Objective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Introduction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Need For System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Challenges 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Related Works 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Motivation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Proposed Methodology 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Implementation</a:t>
            </a:r>
            <a:endParaRPr sz="2900" i="0">
              <a:solidFill>
                <a:srgbClr val="000000"/>
              </a:solidFill>
            </a:endParaRPr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Result performance Metrics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Discussion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Conclusion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Acknowledgement</a:t>
            </a:r>
            <a:endParaRPr/>
          </a:p>
          <a:p>
            <a:pPr marL="0" lvl="0" indent="-101282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900" i="0"/>
              <a:t> References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sz="1600" i="0"/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ctrTitle"/>
          </p:nvPr>
        </p:nvSpPr>
        <p:spPr>
          <a:xfrm>
            <a:off x="629418" y="490815"/>
            <a:ext cx="7850623" cy="3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 dirty="0"/>
              <a:t>Objective</a:t>
            </a:r>
            <a:endParaRPr dirty="0"/>
          </a:p>
        </p:txBody>
      </p:sp>
      <p:sp>
        <p:nvSpPr>
          <p:cNvPr id="65" name="Google Shape;65;p3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AFA95C0-74AD-5EC1-3F7A-C011DF990B8B}"/>
              </a:ext>
            </a:extLst>
          </p:cNvPr>
          <p:cNvSpPr txBox="1"/>
          <p:nvPr/>
        </p:nvSpPr>
        <p:spPr>
          <a:xfrm>
            <a:off x="-17271" y="1090200"/>
            <a:ext cx="9144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Design a high-throughput </a:t>
            </a:r>
            <a:r>
              <a:rPr lang="en-US" b="1" dirty="0"/>
              <a:t>Dynamic Precision Multiply–Accumulate (MAC) </a:t>
            </a:r>
            <a:r>
              <a:rPr lang="en-US" dirty="0"/>
              <a:t>architecture capable of adjusting its arithmetic precision (8/16/32-bit) and processing latency according to workload requirements.​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Integrate the MAC unit seamlessly with an </a:t>
            </a:r>
            <a:r>
              <a:rPr lang="en-US" b="1" dirty="0"/>
              <a:t>AXI4-Lite interface </a:t>
            </a:r>
            <a:r>
              <a:rPr lang="en-US" dirty="0"/>
              <a:t>to enable programmable control, configurability, and SoC-level reusability.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Optimize the architecture for </a:t>
            </a:r>
            <a:r>
              <a:rPr lang="en-US" b="1" dirty="0"/>
              <a:t>RISC-V-based systems</a:t>
            </a:r>
            <a:r>
              <a:rPr lang="en-US" dirty="0"/>
              <a:t>, emphasizing minimal resource footprint while sustaining deterministic performance.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Demonstrate measurable improvements in </a:t>
            </a:r>
            <a:r>
              <a:rPr lang="en-US" b="1" dirty="0"/>
              <a:t>latency, energy efficiency</a:t>
            </a:r>
            <a:r>
              <a:rPr lang="en-US" dirty="0"/>
              <a:t>, and </a:t>
            </a:r>
            <a:r>
              <a:rPr lang="en-US" b="1" dirty="0"/>
              <a:t>computational accuracy</a:t>
            </a:r>
            <a:r>
              <a:rPr lang="en-US" dirty="0"/>
              <a:t> compared to static, fixed-precision MAC designs.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Establish a scalable hardware framework suitable for emerging </a:t>
            </a:r>
            <a:r>
              <a:rPr lang="en-US" b="1" dirty="0"/>
              <a:t>edge-AI, DSP</a:t>
            </a:r>
            <a:r>
              <a:rPr lang="en-US" dirty="0"/>
              <a:t>, and </a:t>
            </a:r>
            <a:r>
              <a:rPr lang="en-US" b="1" dirty="0"/>
              <a:t>embedded</a:t>
            </a:r>
            <a:r>
              <a:rPr lang="en-US" dirty="0"/>
              <a:t> compute workloads requiring flexible arithmetic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ctrTitle"/>
          </p:nvPr>
        </p:nvSpPr>
        <p:spPr>
          <a:xfrm>
            <a:off x="629418" y="490815"/>
            <a:ext cx="7850623" cy="3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/>
              <a:t>Introduction</a:t>
            </a:r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781818" y="1145815"/>
            <a:ext cx="7850623" cy="369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400" b="1" i="0" u="none" strike="noStrike" cap="none">
              <a:solidFill>
                <a:srgbClr val="0045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-449802" y="2600059"/>
            <a:ext cx="88119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82D2F2B-8AFB-0686-A94D-0E98CCF6533A}"/>
              </a:ext>
            </a:extLst>
          </p:cNvPr>
          <p:cNvSpPr txBox="1"/>
          <p:nvPr/>
        </p:nvSpPr>
        <p:spPr>
          <a:xfrm>
            <a:off x="166008" y="1017478"/>
            <a:ext cx="88119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Modern embedded and edge-AI systems demand arithmetic units that </a:t>
            </a:r>
            <a:r>
              <a:rPr lang="en-US" b="1" dirty="0"/>
              <a:t>balance speed, accuracy,</a:t>
            </a:r>
            <a:r>
              <a:rPr lang="en-US" dirty="0"/>
              <a:t> and </a:t>
            </a:r>
            <a:r>
              <a:rPr lang="en-US" b="1" dirty="0"/>
              <a:t>power</a:t>
            </a:r>
            <a:r>
              <a:rPr lang="en-US" dirty="0"/>
              <a:t>—far beyond what fixed-precision MACs can offer.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Traditional MAC architectures struggle with </a:t>
            </a:r>
            <a:r>
              <a:rPr lang="en-US" b="1" dirty="0"/>
              <a:t>varying workload characteristics</a:t>
            </a:r>
            <a:r>
              <a:rPr lang="en-US" dirty="0"/>
              <a:t>, leading to unnecessary latency, energy waste, or degraded numerical quality.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Dynamic MAC designs introduce </a:t>
            </a:r>
            <a:r>
              <a:rPr lang="en-US" b="1" dirty="0"/>
              <a:t>adaptive computation paths</a:t>
            </a:r>
            <a:r>
              <a:rPr lang="en-US" dirty="0"/>
              <a:t>, enabling real-time precision control and performance scaling.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Integrating such a MAC within an AXI-based RISC-V SoC provides a programmable, lightweight accelerator accessible through standard interfaces.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This project explores a unified hardware approach that elevates </a:t>
            </a:r>
            <a:r>
              <a:rPr lang="en-US" b="1" dirty="0"/>
              <a:t>MAC flexibility</a:t>
            </a:r>
            <a:r>
              <a:rPr lang="en-US" dirty="0"/>
              <a:t> while maintaining </a:t>
            </a:r>
            <a:r>
              <a:rPr lang="en-US" b="1" dirty="0"/>
              <a:t>SoC compatibility</a:t>
            </a:r>
            <a:r>
              <a:rPr lang="en-US" dirty="0"/>
              <a:t> and implementation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ctrTitle"/>
          </p:nvPr>
        </p:nvSpPr>
        <p:spPr>
          <a:xfrm>
            <a:off x="725345" y="395771"/>
            <a:ext cx="7850623" cy="3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 dirty="0"/>
              <a:t>Challenges</a:t>
            </a:r>
            <a:endParaRPr dirty="0"/>
          </a:p>
        </p:txBody>
      </p:sp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537EF94-4799-69C4-FE59-ABE42DB731D9}"/>
              </a:ext>
            </a:extLst>
          </p:cNvPr>
          <p:cNvSpPr txBox="1"/>
          <p:nvPr/>
        </p:nvSpPr>
        <p:spPr>
          <a:xfrm>
            <a:off x="234157" y="1127531"/>
            <a:ext cx="86756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Balancing precision adaptability with hardware simplicity without inflating </a:t>
            </a:r>
            <a:r>
              <a:rPr lang="en-US" b="1" dirty="0"/>
              <a:t>LUT, DSP</a:t>
            </a:r>
            <a:r>
              <a:rPr lang="en-US" dirty="0"/>
              <a:t>, or </a:t>
            </a:r>
            <a:r>
              <a:rPr lang="en-US" b="1" dirty="0"/>
              <a:t>timing overheads.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Maintaining </a:t>
            </a:r>
            <a:r>
              <a:rPr lang="en-US" b="1" dirty="0"/>
              <a:t>stable throughput </a:t>
            </a:r>
            <a:r>
              <a:rPr lang="en-US" dirty="0"/>
              <a:t>while switching between static and dynamic MAC modes under diverse input patterns.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Designing an AXI4-Lite control path that remains </a:t>
            </a:r>
            <a:r>
              <a:rPr lang="en-US" b="1" dirty="0"/>
              <a:t>lightweight</a:t>
            </a:r>
            <a:r>
              <a:rPr lang="en-US" dirty="0"/>
              <a:t> yet expressive enough to configure multiple operational parameters.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Ensuring deterministic latency behavior in a pipeline that inherently supports variable computational depths.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Integrating the accelerator cleanly into a RISC-V SoC without compromising </a:t>
            </a:r>
            <a:r>
              <a:rPr lang="en-US" b="1" dirty="0"/>
              <a:t>system clock, memory bandwidth, </a:t>
            </a:r>
            <a:r>
              <a:rPr lang="en-US" dirty="0"/>
              <a:t>or </a:t>
            </a:r>
            <a:r>
              <a:rPr lang="en-US" b="1" dirty="0"/>
              <a:t>verification complexity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>
            <a:spLocks noGrp="1"/>
          </p:cNvSpPr>
          <p:nvPr>
            <p:ph type="ctrTitle"/>
          </p:nvPr>
        </p:nvSpPr>
        <p:spPr>
          <a:xfrm>
            <a:off x="544233" y="274243"/>
            <a:ext cx="7850623" cy="3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 dirty="0"/>
              <a:t>Related Work</a:t>
            </a:r>
            <a:endParaRPr dirty="0"/>
          </a:p>
        </p:txBody>
      </p:sp>
      <p:sp>
        <p:nvSpPr>
          <p:cNvPr id="87" name="Google Shape;87;p7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664235" y="1251340"/>
            <a:ext cx="8317809" cy="332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7500"/>
          </a:bodyPr>
          <a:lstStyle/>
          <a:p>
            <a:pPr marL="342900" marR="0" lvl="0" indent="-21291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2CCF680-E2EE-0CCA-BCC3-ACFE71A441B2}"/>
              </a:ext>
            </a:extLst>
          </p:cNvPr>
          <p:cNvSpPr txBox="1"/>
          <p:nvPr/>
        </p:nvSpPr>
        <p:spPr>
          <a:xfrm>
            <a:off x="174928" y="680301"/>
            <a:ext cx="88071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Locatelli et al. (2023) </a:t>
            </a:r>
            <a:r>
              <a:rPr lang="en-US" dirty="0"/>
              <a:t> proposed a fully time-domain MAC unit that performs multiplication and accumulation using temporally encoded pulses, enabled by a time-register–based architecture. Implemented in 180-nm CMOS, the design occupies only 3167 μm², consumes 1.72 </a:t>
            </a:r>
            <a:r>
              <a:rPr lang="en-US" dirty="0" err="1"/>
              <a:t>mW</a:t>
            </a:r>
            <a:r>
              <a:rPr lang="en-US" dirty="0"/>
              <a:t>, and achieves under 5% error across a 19-ns dynamic range with R² &gt; 0.99, demonstrating an efficient low-power alternative for DSP, IoT, and ML applications.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 err="1"/>
              <a:t>Alsayyab</a:t>
            </a:r>
            <a:r>
              <a:rPr lang="en-US" b="1" dirty="0"/>
              <a:t> et al. (2022) </a:t>
            </a:r>
            <a:r>
              <a:rPr lang="en-US" dirty="0"/>
              <a:t>presented a floating-point MAC for neural networks, featuring optimized mantissa multiplication and pipelined IEEE-754 </a:t>
            </a:r>
            <a:r>
              <a:rPr lang="en-US" dirty="0" err="1"/>
              <a:t>datapaths</a:t>
            </a:r>
            <a:r>
              <a:rPr lang="en-US" dirty="0"/>
              <a:t>. Their work demonstrates the hardware cost and design considerations needed to achieve high-precision arithmetic on FPGA platforms.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Devic et al. (2021) </a:t>
            </a:r>
            <a:r>
              <a:rPr lang="en-US" dirty="0"/>
              <a:t>proposed a mixed-precision, energy-efficient MAC for edge ML, enabling asymmetric bit-widths up to 32 bits. Synthesized in 28 nm FD-SOI, the design achieves notable savings in area and power, evidencing the value of precision-scalable arithmetic in resource-constrained systems.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 err="1"/>
              <a:t>Orugu</a:t>
            </a:r>
            <a:r>
              <a:rPr lang="en-US" b="1" dirty="0"/>
              <a:t> et al. (2024) </a:t>
            </a:r>
            <a:r>
              <a:rPr lang="en-US" dirty="0"/>
              <a:t>explored an approximate radix-8 Booth multiplier optimized for image-processing pipelines. Their results show improved delay and resource efficiency while maintaining high output quality, demonstrating how approximate and Booth-based techniques can enhance arithmetic performance on an FPGA.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>
            <a:spLocks noGrp="1"/>
          </p:cNvSpPr>
          <p:nvPr>
            <p:ph type="ctrTitle"/>
          </p:nvPr>
        </p:nvSpPr>
        <p:spPr>
          <a:xfrm>
            <a:off x="629142" y="658136"/>
            <a:ext cx="7850623" cy="3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/>
              <a:t>Motivation</a:t>
            </a:r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295108" y="1309688"/>
            <a:ext cx="8317809" cy="247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7500"/>
          </a:bodyPr>
          <a:lstStyle/>
          <a:p>
            <a:pPr marL="342900" marR="0" lvl="0" indent="-212915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C45BE1F-7859-BD31-825C-F5FC00622032}"/>
              </a:ext>
            </a:extLst>
          </p:cNvPr>
          <p:cNvSpPr txBox="1"/>
          <p:nvPr/>
        </p:nvSpPr>
        <p:spPr>
          <a:xfrm>
            <a:off x="295108" y="1223783"/>
            <a:ext cx="864263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Fixed-precision MAC units </a:t>
            </a:r>
            <a:r>
              <a:rPr lang="en-IN" b="1" dirty="0"/>
              <a:t>limit performance, accuracy</a:t>
            </a:r>
            <a:r>
              <a:rPr lang="en-IN" dirty="0"/>
              <a:t>, and </a:t>
            </a:r>
            <a:r>
              <a:rPr lang="en-IN" b="1" dirty="0"/>
              <a:t>energy efficiency</a:t>
            </a:r>
            <a:r>
              <a:rPr lang="en-IN" dirty="0"/>
              <a:t> when operating across diverse embedded and ML workloads.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Emerging RISC-V SoCs require </a:t>
            </a:r>
            <a:r>
              <a:rPr lang="en-IN" b="1" dirty="0"/>
              <a:t>lightweight, configurable accelerators </a:t>
            </a:r>
            <a:r>
              <a:rPr lang="en-IN" dirty="0"/>
              <a:t>that avoid DSP overuse and adapt to varying computational demands.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Dynamic precision control enables meaningful reductions in </a:t>
            </a:r>
            <a:r>
              <a:rPr lang="en-IN" b="1" dirty="0"/>
              <a:t>switching activity, latency</a:t>
            </a:r>
            <a:r>
              <a:rPr lang="en-IN" dirty="0"/>
              <a:t>, and </a:t>
            </a:r>
            <a:r>
              <a:rPr lang="en-IN" b="1" dirty="0"/>
              <a:t>power—critical</a:t>
            </a:r>
            <a:r>
              <a:rPr lang="en-IN" dirty="0"/>
              <a:t> for edge devices operating under strict resource budgets.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A programmable AXI-based MAC unit offers a </a:t>
            </a:r>
            <a:r>
              <a:rPr lang="en-IN" b="1" dirty="0"/>
              <a:t>reusable, SoC-friendly </a:t>
            </a:r>
            <a:r>
              <a:rPr lang="en-IN" dirty="0"/>
              <a:t>alternative to static </a:t>
            </a:r>
            <a:r>
              <a:rPr lang="en-IN" dirty="0" err="1"/>
              <a:t>datapaths</a:t>
            </a:r>
            <a:r>
              <a:rPr lang="en-IN" dirty="0"/>
              <a:t> and vendor-specific DSP blocks.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Modern applications—from quantized inference to DSP preprocessing—benefit directly from MAC architectures that scale their computational depth at runtime.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>
            <a:spLocks noGrp="1"/>
          </p:cNvSpPr>
          <p:nvPr>
            <p:ph type="ctrTitle"/>
          </p:nvPr>
        </p:nvSpPr>
        <p:spPr>
          <a:xfrm>
            <a:off x="629142" y="658136"/>
            <a:ext cx="7850623" cy="3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 dirty="0"/>
              <a:t>Proposed Methodology</a:t>
            </a:r>
            <a:endParaRPr dirty="0"/>
          </a:p>
        </p:txBody>
      </p:sp>
      <p:sp>
        <p:nvSpPr>
          <p:cNvPr id="101" name="Google Shape;101;p9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A8C7677-D2F8-0FB6-D7E3-494BE39D1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3" y="1081972"/>
            <a:ext cx="5293380" cy="2828302"/>
          </a:xfrm>
          <a:prstGeom prst="rect">
            <a:avLst/>
          </a:prstGeom>
        </p:spPr>
      </p:pic>
      <p:pic>
        <p:nvPicPr>
          <p:cNvPr id="3" name="Picture 2" descr="A screenshot of a computer">
            <a:extLst>
              <a:ext uri="{FF2B5EF4-FFF2-40B4-BE49-F238E27FC236}">
                <a16:creationId xmlns="" xmlns:a16="http://schemas.microsoft.com/office/drawing/2014/main" id="{E1A988FB-2479-657A-9ECA-A2454C2C8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888" y="1217314"/>
            <a:ext cx="3567369" cy="24334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>
            <a:spLocks noGrp="1"/>
          </p:cNvSpPr>
          <p:nvPr>
            <p:ph type="ctrTitle"/>
          </p:nvPr>
        </p:nvSpPr>
        <p:spPr>
          <a:xfrm>
            <a:off x="705089" y="323503"/>
            <a:ext cx="78507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 dirty="0"/>
              <a:t>Proposed Methodology</a:t>
            </a:r>
            <a:endParaRPr dirty="0"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33A3B9-707D-3934-B366-4A535A8703E2}"/>
                  </a:ext>
                </a:extLst>
              </p:cNvPr>
              <p:cNvSpPr txBox="1"/>
              <p:nvPr/>
            </p:nvSpPr>
            <p:spPr>
              <a:xfrm>
                <a:off x="240631" y="715480"/>
                <a:ext cx="8779615" cy="3504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dirty="0"/>
                  <a:t>Dynamic MAC pipeline using Brent–Kung adder, Radix-4 Booth multiplier, and accumulator.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dirty="0"/>
                  <a:t>AXI4-Lite wrapper for register control and runtime precision selection.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dirty="0"/>
                  <a:t>PicoRV32 RISC-V processor drives configuration and data transfers.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dirty="0"/>
                  <a:t>AXI adapter + on-chip RAM used for a compact verification setup.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dirty="0"/>
                  <a:t>Modular and SoC-friendly accelerator architecture.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pPr/>
                <a:r>
                  <a:rPr lang="en-IN" u="sng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Formula:</a:t>
                </a:r>
                <a:br>
                  <a:rPr lang="en-IN" u="sng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𝑴𝑨𝑪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IN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r>
                            <a:rPr lang="en-IN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IN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IN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IN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𝒂𝒄𝒄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𝒂𝒄𝒄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I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N" b="1" i="1" baseline="-250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en-US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IN" b="1" i="1" baseline="-250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FA33A3B9-707D-3934-B366-4A535A870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31" y="715480"/>
                <a:ext cx="8779615" cy="3504164"/>
              </a:xfrm>
              <a:prstGeom prst="rect">
                <a:avLst/>
              </a:prstGeom>
              <a:blipFill>
                <a:blip r:embed="rId3"/>
                <a:stretch>
                  <a:fillRect l="-208" t="-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1B94411B-8B26-5F6F-9C1D-61879A68D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508873"/>
              </p:ext>
            </p:extLst>
          </p:nvPr>
        </p:nvGraphicFramePr>
        <p:xfrm>
          <a:off x="3834379" y="3096145"/>
          <a:ext cx="4421349" cy="14325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473783">
                  <a:extLst>
                    <a:ext uri="{9D8B030D-6E8A-4147-A177-3AD203B41FA5}">
                      <a16:colId xmlns="" xmlns:a16="http://schemas.microsoft.com/office/drawing/2014/main" val="397820050"/>
                    </a:ext>
                  </a:extLst>
                </a:gridCol>
                <a:gridCol w="1473783">
                  <a:extLst>
                    <a:ext uri="{9D8B030D-6E8A-4147-A177-3AD203B41FA5}">
                      <a16:colId xmlns="" xmlns:a16="http://schemas.microsoft.com/office/drawing/2014/main" val="1011360883"/>
                    </a:ext>
                  </a:extLst>
                </a:gridCol>
                <a:gridCol w="1473783">
                  <a:extLst>
                    <a:ext uri="{9D8B030D-6E8A-4147-A177-3AD203B41FA5}">
                      <a16:colId xmlns="" xmlns:a16="http://schemas.microsoft.com/office/drawing/2014/main" val="2755375173"/>
                    </a:ext>
                  </a:extLst>
                </a:gridCol>
              </a:tblGrid>
              <a:tr h="233809">
                <a:tc>
                  <a:txBody>
                    <a:bodyPr/>
                    <a:lstStyle/>
                    <a:p>
                      <a:r>
                        <a:rPr lang="en-IN" dirty="0"/>
                        <a:t>          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Value to write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92788552"/>
                  </a:ext>
                </a:extLst>
              </a:tr>
              <a:tr h="233809">
                <a:tc>
                  <a:txBody>
                    <a:bodyPr/>
                    <a:lstStyle/>
                    <a:p>
                      <a:r>
                        <a:rPr lang="en-IN" dirty="0"/>
                        <a:t>   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8- Bit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96889583"/>
                  </a:ext>
                </a:extLst>
              </a:tr>
              <a:tr h="233809">
                <a:tc>
                  <a:txBody>
                    <a:bodyPr/>
                    <a:lstStyle/>
                    <a:p>
                      <a:r>
                        <a:rPr lang="en-IN" dirty="0"/>
                        <a:t>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16- Bit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              0x01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6068831"/>
                  </a:ext>
                </a:extLst>
              </a:tr>
              <a:tr h="233809">
                <a:tc>
                  <a:txBody>
                    <a:bodyPr/>
                    <a:lstStyle/>
                    <a:p>
                      <a:r>
                        <a:rPr lang="en-IN" dirty="0"/>
                        <a:t>           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32 - Bit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0x02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888810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>
            <a:spLocks noGrp="1"/>
          </p:cNvSpPr>
          <p:nvPr>
            <p:ph type="ctrTitle"/>
          </p:nvPr>
        </p:nvSpPr>
        <p:spPr>
          <a:xfrm>
            <a:off x="629142" y="490815"/>
            <a:ext cx="7850623" cy="3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/>
              <a:t>Implementation</a:t>
            </a:r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295108" y="1218484"/>
            <a:ext cx="8317809" cy="375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21590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FE951F0-0A9D-23BE-DD29-6A77461A0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49" y="1477290"/>
            <a:ext cx="8693902" cy="23772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ctrTitle"/>
          </p:nvPr>
        </p:nvSpPr>
        <p:spPr>
          <a:xfrm>
            <a:off x="629142" y="559813"/>
            <a:ext cx="78507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/>
              <a:t>Result &amp; Performance Metrics</a:t>
            </a:r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385812" y="830833"/>
            <a:ext cx="8453400" cy="40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F514B0C-34E2-3B54-127D-F2EA43958A7C}"/>
              </a:ext>
            </a:extLst>
          </p:cNvPr>
          <p:cNvSpPr txBox="1"/>
          <p:nvPr/>
        </p:nvSpPr>
        <p:spPr>
          <a:xfrm>
            <a:off x="3210713" y="4307674"/>
            <a:ext cx="3148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 wrapped MAC unit waveform</a:t>
            </a:r>
            <a:endParaRPr lang="en-IN" dirty="0"/>
          </a:p>
        </p:txBody>
      </p:sp>
      <p:pic>
        <p:nvPicPr>
          <p:cNvPr id="8" name="drawing"/>
          <p:cNvPicPr/>
          <p:nvPr/>
        </p:nvPicPr>
        <p:blipFill>
          <a:blip r:embed="rId3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  </a:ext>
            </a:extLst>
          </a:blip>
          <a:stretch>
            <a:fillRect/>
          </a:stretch>
        </p:blipFill>
        <p:spPr>
          <a:xfrm>
            <a:off x="347472" y="1109472"/>
            <a:ext cx="8503920" cy="3005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>
            <a:spLocks noGrp="1"/>
          </p:cNvSpPr>
          <p:nvPr>
            <p:ph type="ctrTitle"/>
          </p:nvPr>
        </p:nvSpPr>
        <p:spPr>
          <a:xfrm>
            <a:off x="629142" y="559813"/>
            <a:ext cx="7850623" cy="3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/>
              <a:t>Result &amp; Performance Metrics</a:t>
            </a:r>
            <a:endParaRPr/>
          </a:p>
        </p:txBody>
      </p:sp>
      <p:sp>
        <p:nvSpPr>
          <p:cNvPr id="122" name="Google Shape;122;p12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7AC08DC-AA89-0A96-B2C1-D88B4656ACF1}"/>
              </a:ext>
            </a:extLst>
          </p:cNvPr>
          <p:cNvSpPr txBox="1"/>
          <p:nvPr/>
        </p:nvSpPr>
        <p:spPr>
          <a:xfrm>
            <a:off x="3176337" y="4345678"/>
            <a:ext cx="3031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   CPU → RAM → MAC interactions</a:t>
            </a: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310896" y="1130808"/>
            <a:ext cx="8589263" cy="3105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="" xmlns:a16="http://schemas.microsoft.com/office/drawing/2014/main" id="{FDF87E24-D546-381C-A53A-8F358E6A5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>
            <a:extLst>
              <a:ext uri="{FF2B5EF4-FFF2-40B4-BE49-F238E27FC236}">
                <a16:creationId xmlns="" xmlns:a16="http://schemas.microsoft.com/office/drawing/2014/main" id="{89348135-7122-BDB9-9ADD-FF1F468AF4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240" y="299963"/>
            <a:ext cx="78507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 dirty="0"/>
              <a:t>Result &amp; Performance Metrics</a:t>
            </a:r>
            <a:endParaRPr dirty="0"/>
          </a:p>
        </p:txBody>
      </p:sp>
      <p:sp>
        <p:nvSpPr>
          <p:cNvPr id="136" name="Google Shape;136;p14">
            <a:extLst>
              <a:ext uri="{FF2B5EF4-FFF2-40B4-BE49-F238E27FC236}">
                <a16:creationId xmlns="" xmlns:a16="http://schemas.microsoft.com/office/drawing/2014/main" id="{AE66928B-A01F-7D4E-CFFB-6F299A2DC7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sp>
        <p:nvSpPr>
          <p:cNvPr id="137" name="Google Shape;137;p14">
            <a:extLst>
              <a:ext uri="{FF2B5EF4-FFF2-40B4-BE49-F238E27FC236}">
                <a16:creationId xmlns="" xmlns:a16="http://schemas.microsoft.com/office/drawing/2014/main" id="{715562D0-9585-B7DB-EF29-882B5919A388}"/>
              </a:ext>
            </a:extLst>
          </p:cNvPr>
          <p:cNvSpPr txBox="1"/>
          <p:nvPr/>
        </p:nvSpPr>
        <p:spPr>
          <a:xfrm>
            <a:off x="457658" y="1714819"/>
            <a:ext cx="3121720" cy="1906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A graph of different colored bars&#10;&#10;AI-generated content may be incorrect.">
            <a:extLst>
              <a:ext uri="{FF2B5EF4-FFF2-40B4-BE49-F238E27FC236}">
                <a16:creationId xmlns="" xmlns:a16="http://schemas.microsoft.com/office/drawing/2014/main" id="{CC149EB0-36A8-A581-C45D-D0187F369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83" y="634463"/>
            <a:ext cx="4429517" cy="203711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="" xmlns:a16="http://schemas.microsoft.com/office/drawing/2014/main" id="{EC66ACEC-4045-3CAE-0213-C7ABC687E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01" y="2800649"/>
            <a:ext cx="3182014" cy="203711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D60AFC83-798C-C53B-51EC-12E99B64F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248" y="1714819"/>
            <a:ext cx="4108269" cy="19713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872381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>
            <a:spLocks noGrp="1"/>
          </p:cNvSpPr>
          <p:nvPr>
            <p:ph type="ctrTitle"/>
          </p:nvPr>
        </p:nvSpPr>
        <p:spPr>
          <a:xfrm>
            <a:off x="629142" y="361099"/>
            <a:ext cx="7850623" cy="3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ts val="3200"/>
              <a:buFont typeface="Calibri"/>
              <a:buNone/>
            </a:pPr>
            <a:r>
              <a:rPr lang="en-US" sz="3200" dirty="0"/>
              <a:t>Conclusion</a:t>
            </a:r>
            <a:endParaRPr dirty="0"/>
          </a:p>
        </p:txBody>
      </p:sp>
      <p:sp>
        <p:nvSpPr>
          <p:cNvPr id="143" name="Google Shape;143;p15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CA4B89E-A0A8-5CA1-C7DB-2691586EAB90}"/>
              </a:ext>
            </a:extLst>
          </p:cNvPr>
          <p:cNvSpPr txBox="1"/>
          <p:nvPr/>
        </p:nvSpPr>
        <p:spPr>
          <a:xfrm>
            <a:off x="386907" y="597987"/>
            <a:ext cx="8614610" cy="41857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Demonstrated a dynamically configurable MAC unit that adapts precision and latency to workload demands while maintaining AXI compliance.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Integrated seamlessly with a RISC-V (PicoRV32) system, enabling programmable control, efficient data movement, and a compact verification flow.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Achieved improved flexibility and computational efficiency compared to static MAC architectures, validating the value of scalable arithmetic pipelines.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NOVELTY HIGHLIGHTS: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/>
              <a:t>Introduces a runtime-configurable MAC pipeline that supports multiple precision modes (8/16/32/40-bit) without relying on DSP </a:t>
            </a:r>
            <a:r>
              <a:rPr lang="en-IN" dirty="0" smtClean="0"/>
              <a:t>slices.</a:t>
            </a: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/>
              <a:t>Combines Brent–Kung addition and Radix-4 Booth multiplication within an AXI4-Lite–controlled architecture, enabling adaptive high-speed arithmetic.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/>
              <a:t>Provides a fully integrated RISC-V (PicoRV32) verification framework, demonstrating seamless processor–accelerator interaction in a compact SoC environment.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ctrTitle"/>
          </p:nvPr>
        </p:nvSpPr>
        <p:spPr>
          <a:xfrm>
            <a:off x="629142" y="114393"/>
            <a:ext cx="7850623" cy="707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ct val="100000"/>
              <a:buFont typeface="Calibri"/>
              <a:buNone/>
            </a:pPr>
            <a:endParaRPr sz="32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78"/>
              </a:buClr>
              <a:buSzPct val="100000"/>
              <a:buFont typeface="Calibri"/>
              <a:buNone/>
            </a:pPr>
            <a:r>
              <a:rPr lang="en-US" sz="3600" dirty="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3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>
            <a:spLocks noGrp="1"/>
          </p:cNvSpPr>
          <p:nvPr>
            <p:ph type="sldNum" idx="12"/>
          </p:nvPr>
        </p:nvSpPr>
        <p:spPr>
          <a:xfrm>
            <a:off x="142483" y="4837765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EEA7D8F-4917-7C61-9D0C-BF72CF01B91C}"/>
              </a:ext>
            </a:extLst>
          </p:cNvPr>
          <p:cNvSpPr txBox="1"/>
          <p:nvPr/>
        </p:nvSpPr>
        <p:spPr>
          <a:xfrm>
            <a:off x="385812" y="990027"/>
            <a:ext cx="85183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/>
              <a:t>M. R. P. C. Muhammed et al., “Dynamic Precision Scaling in MAC Units for Energy-Efficient Computations in Deep Neural Network Accelerators,” Proc. 28th Int. Symp. VLSI Design and Test (VDAT), 2024.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/>
              <a:t>G. Devic et al., “Highly-Adaptive Mixed-Precision MAC Unit for Smart and Low-Power Edge Computing,” Proc. 19th IEEE NEWCAS, 2021.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/>
              <a:t>P. S. Locatelli et al., “Time-domain multiply–accumulate unit,” Apr. 2023.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/>
              <a:t>Sabreen </a:t>
            </a:r>
            <a:r>
              <a:rPr lang="en-IN" sz="1000" dirty="0" err="1"/>
              <a:t>Alsayyab</a:t>
            </a:r>
            <a:r>
              <a:rPr lang="en-IN" sz="1000" dirty="0"/>
              <a:t> and A. J. M. </a:t>
            </a:r>
            <a:r>
              <a:rPr lang="en-IN" sz="1000" dirty="0" err="1"/>
              <a:t>Karkar</a:t>
            </a:r>
            <a:r>
              <a:rPr lang="en-IN" sz="1000" dirty="0"/>
              <a:t>, “FPGA Implementation of MAC Unit for Artificial Neural Network Accelerators,” IEEE, 2022.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 err="1"/>
              <a:t>Rangarao</a:t>
            </a:r>
            <a:r>
              <a:rPr lang="en-IN" sz="1000" dirty="0"/>
              <a:t> </a:t>
            </a:r>
            <a:r>
              <a:rPr lang="en-IN" sz="1000" dirty="0" err="1"/>
              <a:t>Orugu</a:t>
            </a:r>
            <a:r>
              <a:rPr lang="en-IN" sz="1000" dirty="0"/>
              <a:t> et al., “FPGA Design and Implementation of Approximate Radix-8 Booth Multiplier,” 2024.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/>
              <a:t>S. V. Kartheek et al., “An Optimized Multiply Accumulate Unit for Embedded Applications,” Proc. ICAECT, 2025.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/>
              <a:t>M. Jayasanthi and D. Ashvika, “Implementation of Power Efficient Multiply Accumulate Unit for DSP Applications,” Proc. </a:t>
            </a:r>
            <a:r>
              <a:rPr lang="en-IN" sz="1000" dirty="0" err="1"/>
              <a:t>iTech</a:t>
            </a:r>
            <a:r>
              <a:rPr lang="en-IN" sz="1000" dirty="0"/>
              <a:t> SECOM, 2023.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/>
              <a:t>R. Chandaluri and U. </a:t>
            </a:r>
            <a:r>
              <a:rPr lang="en-IN" sz="1000" dirty="0" err="1"/>
              <a:t>Nelakuditi</a:t>
            </a:r>
            <a:r>
              <a:rPr lang="en-IN" sz="1000" dirty="0"/>
              <a:t>, “Design and Implementation of AXI4-Lite Interface in Zynq SoC,” Proc. DELCON, 2022.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/>
              <a:t>Aashima and L. M. Saini, “Design, Analysis and Verification of AMBA AXI4.0,” Proc. ICVADV, 2025.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dirty="0"/>
              <a:t>RISC-V Instruction Set Manual, Volume I – Unprivileged Architecture, RISC-V International, 2024.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881" y="0"/>
            <a:ext cx="7850623" cy="707953"/>
          </a:xfrm>
        </p:spPr>
        <p:txBody>
          <a:bodyPr/>
          <a:lstStyle/>
          <a:p>
            <a:pPr algn="ctr"/>
            <a:r>
              <a:rPr lang="en-US" dirty="0" smtClean="0"/>
              <a:t>Certificate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6200000">
            <a:off x="2517593" y="-1325449"/>
            <a:ext cx="3999088" cy="793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vent Series _ Purpl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1135</Words>
  <Application>Microsoft Office PowerPoint</Application>
  <PresentationFormat>On-screen Show (16:9)</PresentationFormat>
  <Paragraphs>146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Event Series _ Purple</vt:lpstr>
      <vt:lpstr>Slide 1</vt:lpstr>
      <vt:lpstr>Overview</vt:lpstr>
      <vt:lpstr>Objective</vt:lpstr>
      <vt:lpstr>Introduction</vt:lpstr>
      <vt:lpstr>Challenges</vt:lpstr>
      <vt:lpstr>Related Work</vt:lpstr>
      <vt:lpstr>Motivation</vt:lpstr>
      <vt:lpstr>Proposed Methodology</vt:lpstr>
      <vt:lpstr>Proposed Methodology</vt:lpstr>
      <vt:lpstr>Implementation</vt:lpstr>
      <vt:lpstr>Result &amp; Performance Metrics</vt:lpstr>
      <vt:lpstr>Result &amp; Performance Metrics</vt:lpstr>
      <vt:lpstr>Result &amp; Performance Metrics</vt:lpstr>
      <vt:lpstr>Conclusion</vt:lpstr>
      <vt:lpstr> References</vt:lpstr>
      <vt:lpstr>Certificate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Microsoft Office User</dc:creator>
  <cp:lastModifiedBy>thirunaavukarasan s</cp:lastModifiedBy>
  <cp:revision>11</cp:revision>
  <dcterms:created xsi:type="dcterms:W3CDTF">2016-10-24T19:40:55Z</dcterms:created>
  <dcterms:modified xsi:type="dcterms:W3CDTF">2025-12-19T18:43:02Z</dcterms:modified>
</cp:coreProperties>
</file>